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Urbanist SemiBold" panose="020B0604020202020204" charset="-18"/>
      <p:regular r:id="rId17"/>
      <p:bold r:id="rId18"/>
      <p:italic r:id="rId19"/>
      <p:boldItalic r:id="rId20"/>
    </p:embeddedFont>
    <p:embeddedFont>
      <p:font typeface="Urbanist" panose="020B0604020202020204" charset="-18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C6698F-2E32-4FC1-B37C-1FA837B52681}">
  <a:tblStyle styleId="{5DC6698F-2E32-4FC1-B37C-1FA837B526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6651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1601" y="1270643"/>
            <a:ext cx="8421052" cy="2742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5400" b="0" i="0" u="none" strike="noStrike" cap="none" dirty="0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KOSIARKOBOT </a:t>
            </a:r>
            <a:r>
              <a:rPr lang="en-US" sz="5400" b="0" i="0" u="none" strike="noStrike" cap="none" dirty="0" smtClean="0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2.0</a:t>
            </a:r>
            <a:r>
              <a:rPr lang="pl-PL" sz="5400" b="0" i="0" u="none" strike="noStrike" cap="none" dirty="0" smtClean="0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 - </a:t>
            </a:r>
            <a:r>
              <a:rPr lang="en-US" sz="5400" b="1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Webowy</a:t>
            </a:r>
            <a:r>
              <a:rPr lang="en-US" sz="54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System </a:t>
            </a:r>
            <a:r>
              <a:rPr lang="en-US" sz="5400" b="1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Zarządzania</a:t>
            </a:r>
            <a:r>
              <a:rPr lang="en-US" sz="54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Magazynem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607010" y="4119168"/>
            <a:ext cx="4124788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cap="none" dirty="0" err="1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Autor</a:t>
            </a:r>
            <a:r>
              <a:rPr lang="en-US" sz="1800" b="1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Antoni </a:t>
            </a:r>
            <a:r>
              <a:rPr lang="en-US" sz="1800" b="0" i="0" u="none" strike="noStrike" cap="none" dirty="0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Grycmann</a:t>
            </a:r>
            <a:endParaRPr lang="pl-P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cap="none" dirty="0" err="1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Prowadzący</a:t>
            </a:r>
            <a:r>
              <a:rPr lang="en-US" sz="1800" b="1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lang="pl-PL" sz="1800" dirty="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 err="1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Dr</a:t>
            </a:r>
            <a:r>
              <a:rPr lang="en-US" sz="1800" b="0" i="0" u="none" strike="noStrike" cap="none" dirty="0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inż</a:t>
            </a:r>
            <a:r>
              <a:rPr lang="en-US" sz="1800" b="0" i="0" u="none" strike="noStrike" cap="none" dirty="0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800" b="0" i="0" u="none" strike="noStrike" cap="none" dirty="0" err="1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Dawid</a:t>
            </a:r>
            <a:r>
              <a:rPr lang="en-US" sz="1800" b="0" i="0" u="none" strike="noStrike" cap="none" dirty="0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Buła</a:t>
            </a:r>
            <a:endParaRPr lang="pl-PL" sz="1800" dirty="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800" b="0" i="0" u="none" strike="noStrike" cap="none" dirty="0" smtClean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Dr inż. Artur Pasierbek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715000" y="857250"/>
            <a:ext cx="76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1200150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Logika</a:t>
            </a:r>
            <a:r>
              <a:rPr lang="en-US" sz="54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Biznesowa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&amp; </a:t>
            </a:r>
            <a:r>
              <a:rPr lang="en-US" sz="54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Strategia</a:t>
            </a:r>
            <a:r>
              <a:rPr lang="en-US" sz="54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Projektu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899171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Ewolucja architektury w odpowiedzi na wymagania rynkowe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4625"/>
            <a:ext cx="52387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14625"/>
            <a:ext cx="52387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1051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Ograniczenia Wersji 1.0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57187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Niescentralizowana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ewidencja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oparta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plikach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tekstowych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generowała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ryzyko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utraty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danych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błędów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inwentaryzacyjnych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Brak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architektury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klient-serwer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uniemożliwiał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skalowanie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systemu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6772275" y="31051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Przewaga Kosiarkobota 2.0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357187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Implementacja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relacyjnej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bazy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danych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PostgreSQL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oraz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interfejsu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webowego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(Spring Boot)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zapewnia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bezpieczeństwo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ACID,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pracę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wielostanowiskową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automatyzację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wyceny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w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czasie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rzeczywistym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pl-PL" sz="1800" dirty="0" err="1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Kosiarkobot</a:t>
            </a:r>
            <a:r>
              <a:rPr lang="pl-PL" sz="1800" dirty="0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2.0 rozwiązuje błędy inwentaryzacyjne poprzez migrację do architektury klient-serwer</a:t>
            </a:r>
            <a:endParaRPr sz="900" dirty="0"/>
          </a:p>
        </p:txBody>
      </p:sp>
      <p:sp>
        <p:nvSpPr>
          <p:cNvPr id="107" name="Google Shape;107;p15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8533"/>
            <a:ext cx="5238750" cy="373915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2078533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Paradygmat Modernizacji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2545258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Świadoma decyzja o rezygnacji z biblioteki JavaFX na rzecz rozwiązań serwerowych. Przejście z modelu lokalnego na architekturę webową pozwoliło na centralizację danych i poprawę ergonomii pracy biurowej.</a:t>
            </a:r>
            <a:endParaRPr/>
          </a:p>
        </p:txBody>
      </p:sp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88058"/>
            <a:ext cx="19907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000125" y="3954958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Trwałość danych (PostgreSQL)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00125" y="4575869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Dostępność przeglądarkowa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00125" y="5196780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Architektura MVC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7821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873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3964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Ewolucja Technologiczna: Desktop do Web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602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8602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86025"/>
            <a:ext cx="3492549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66775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Java 21 LTS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66775" y="38957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Wykorzystanie Stream API do wysokowydajnych obliczeń finansowych i logicznego filtrowania kolekcji danych.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45074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Spring Boot 3.2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45074" y="38957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Zastosowanie wstrzykiwania zależności (DI) oraz Spring Data JPA do automatyzacji warstwy dostępowej.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23374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PostgreSQL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23374" y="38957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Przejście na standard rynkowy w przechowywaniu danych. Eliminacja problemów ulotności plików tekstowych.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0987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098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098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 err="1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Nowoczesny</a:t>
            </a:r>
            <a:r>
              <a:rPr lang="en-US" sz="3300" b="0" i="0" u="none" strike="noStrike" cap="none" dirty="0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Stack </a:t>
            </a:r>
            <a:r>
              <a:rPr lang="en-US" sz="3300" b="0" i="0" u="none" strike="noStrike" cap="none" dirty="0" err="1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Technologiczny</a:t>
            </a:r>
            <a:endParaRPr dirty="0"/>
          </a:p>
        </p:txBody>
      </p:sp>
      <p:sp>
        <p:nvSpPr>
          <p:cNvPr id="143" name="Google Shape;143;p17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62000" y="571500"/>
            <a:ext cx="4800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Architektura Systemu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762000" y="121920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1609725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Model-View-Controller (MVC)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20764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System został zaprojektowany z myślą o separacji odpowiedzialności:</a:t>
            </a:r>
            <a:endParaRPr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739282"/>
            <a:ext cx="4572000" cy="101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190625" y="2876550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Model: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Encje JPA (Robot.java)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190625" y="3497460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View: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Szablony Thymeleaf (HTML/CSS)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90625" y="4118371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Controller: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Zarządzanie żądaniami HTTP</a:t>
            </a:r>
            <a:endParaRPr/>
          </a:p>
        </p:txBody>
      </p:sp>
      <p:pic>
        <p:nvPicPr>
          <p:cNvPr id="12" name="Obraz 11" descr="C:\Users\Antoni\AppData\Local\Microsoft\Windows\INetCache\Content.MSO\E1D83D8A.tmp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802" y="369660"/>
            <a:ext cx="3720216" cy="5585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p19"/>
          <p:cNvGraphicFramePr/>
          <p:nvPr/>
        </p:nvGraphicFramePr>
        <p:xfrm>
          <a:off x="571500" y="2581275"/>
          <a:ext cx="11049025" cy="2924125"/>
        </p:xfrm>
        <a:graphic>
          <a:graphicData uri="http://schemas.openxmlformats.org/drawingml/2006/table">
            <a:tbl>
              <a:tblPr firstRow="1" bandRow="1">
                <a:noFill/>
                <a:tableStyleId>{5DC6698F-2E32-4FC1-B37C-1FA837B52681}</a:tableStyleId>
              </a:tblPr>
              <a:tblGrid>
                <a:gridCol w="308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Funkcjonalność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Wersja 1.0 (Desktop)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Wersja 2.0 (Web)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Status Rynkowy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Przechowywanie danych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Plik .txt / CSV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Baza PostgreSQL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Profesjonalny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Architektura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Monolit lokalny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Klient-Serwer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Skalowalny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Integracja Widoku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JavaFX / Scene Builder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Thymeleaf / HTML5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Nowoczesny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Bezpieczeństwo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Brak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Transakcyjność JPA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Wysoki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" name="Google Shape;164;p19"/>
          <p:cNvSpPr/>
          <p:nvPr/>
        </p:nvSpPr>
        <p:spPr>
          <a:xfrm>
            <a:off x="571500" y="37766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652242" y="37766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596955" y="37766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9195196" y="37766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71500" y="43481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652242" y="43481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596955" y="43481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9195196" y="43481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49196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652242" y="49196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596955" y="49196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9195196" y="49196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54911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652242" y="54911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596955" y="54911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9195196" y="54911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Kluczowe Przewagi Projektu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571500" y="37766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652242" y="37766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596955" y="37766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9195196" y="37766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71500" y="43481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652242" y="43481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596955" y="43481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9195196" y="43481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49196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652242" y="49196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596955" y="49196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9195196" y="49196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5491162"/>
            <a:ext cx="3080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652242" y="5491162"/>
            <a:ext cx="29447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596955" y="5491162"/>
            <a:ext cx="2598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9195196" y="5491162"/>
            <a:ext cx="24253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dirty="0" err="1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Interfejs</a:t>
            </a:r>
            <a:r>
              <a:rPr lang="en-US" sz="3300" dirty="0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3300" dirty="0" err="1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Użytkownika</a:t>
            </a:r>
            <a:r>
              <a:rPr lang="en-US" sz="3300" dirty="0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(Web UI)</a:t>
            </a:r>
            <a:endParaRPr dirty="0"/>
          </a:p>
        </p:txBody>
      </p:sp>
      <p:sp>
        <p:nvSpPr>
          <p:cNvPr id="181" name="Google Shape;181;p19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Obraz 21"/>
          <p:cNvPicPr/>
          <p:nvPr/>
        </p:nvPicPr>
        <p:blipFill>
          <a:blip r:embed="rId4"/>
          <a:stretch>
            <a:fillRect/>
          </a:stretch>
        </p:blipFill>
        <p:spPr>
          <a:xfrm>
            <a:off x="571500" y="1360065"/>
            <a:ext cx="9091751" cy="483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0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11049000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49387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Dane wykazują drastyczny spadek ryzyka kolizji danych przy przejściu na model relacyjny.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Efektywność Operacyjna Systemu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2895600"/>
            <a:ext cx="388509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 dirty="0" smtClean="0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10</a:t>
            </a:r>
            <a:r>
              <a:rPr lang="pl-PL" sz="12000" b="1" i="0" u="none" strike="noStrike" cap="none" dirty="0" smtClean="0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r>
              <a:rPr lang="en-US" sz="12000" b="1" i="0" u="none" strike="noStrike" cap="none" dirty="0" smtClean="0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%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4724400"/>
            <a:ext cx="3276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Walidacja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SQL</a:t>
            </a:r>
            <a:endParaRPr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4610100" y="3257550"/>
            <a:ext cx="73609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Eliminacja Anomalii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10100" y="3724275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Wdrożenie mechanizmu ochrony integralności podczas usuwania rekordów. Rozwiązano problem anomalii usuwania (deletion anomaly) poprzez analizę powiązań kluczy obcych i logikę warstwy serwisu.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Pewność i Integralność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602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8602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86025"/>
            <a:ext cx="3492549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866775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Konflikt Portów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66775" y="38957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Diagnoza zajętości portu 8081. Zastosowanie narzędzi systemowych netstat i taskkill do odblokowania procesu serwera.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4645074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Mapowanie ORM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4645074" y="38957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Odwzorowanie złożonej logiki biznesowej na sztywne schematy tabel PostgreSQL przy zachowaniu wydajności.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423374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Persistence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423374" y="38957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Migracja z niespójnych plików płaskich na transakcyjny system składowania danych w środowisku Spring.</a:t>
            </a:r>
            <a:endParaRPr/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098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098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09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Wyzwania Inżynierskie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1000125" y="2706290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Security Module: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Implementacja Spring Security oraz systemu ról (Kierownik / Sprzedawca).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000125" y="3327201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Soft Delete: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Wprowadzenie flagi aktywności rekordu zamiast fizycznego kasowania danych.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000125" y="3948112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Reporting Engine: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Moduł generowania faktur i raportów magazynowych w formacie PDF/XLSX.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000125" y="4569023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Cloud Deployment: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Konteneryzacja (Docker) i hosting na platformach chmurowych (AWS/Azure).</a:t>
            </a:r>
            <a:endParaRPr/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915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70064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09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11885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Strategia Rozwoju: Road Map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295275" y="2172592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Pytania?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341084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Dziękuję za uwagę i zapraszam do dyskusji.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571500" y="4409033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Antoni Grycmann | Kosiarkobot 2.0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571500" y="316810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3943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943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17527"/>
            <a:ext cx="13525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66875" y="331097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https://ideamower.com/cdn/shop/articles/ChatGPT_Image_15_mag_2026_14_30_37_afaf6017-f562-4846-bc3d-ff1ecad5b78e_1000x.png?v=1778849300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666875" y="35566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ideamower.com</a:t>
            </a:r>
            <a:endParaRPr/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02298"/>
            <a:ext cx="1143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666875" y="409575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https://emerline.com/images/blog/2433d376758e65a29ee2fc121e3efb2e-736x425_modern_web_development.webp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666875" y="43414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emerline.com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71500" y="1219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473</Words>
  <Application>Microsoft Office PowerPoint</Application>
  <PresentationFormat>Panoramiczny</PresentationFormat>
  <Paragraphs>80</Paragraphs>
  <Slides>14</Slides>
  <Notes>14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9" baseType="lpstr">
      <vt:lpstr>Urbanist SemiBold</vt:lpstr>
      <vt:lpstr>Urbanist</vt:lpstr>
      <vt:lpstr>Calibri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Antoni Grycmann</dc:creator>
  <cp:lastModifiedBy>Antoni Grycmann (ag311499)</cp:lastModifiedBy>
  <cp:revision>2</cp:revision>
  <dcterms:modified xsi:type="dcterms:W3CDTF">2026-05-21T06:40:18Z</dcterms:modified>
</cp:coreProperties>
</file>