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Urbanist" panose="020B0604020202020204" charset="-18"/>
      <p:regular r:id="rId17"/>
      <p:bold r:id="rId18"/>
      <p:italic r:id="rId19"/>
      <p:boldItalic r:id="rId20"/>
    </p:embeddedFont>
    <p:embeddedFont>
      <p:font typeface="Urbanist SemiBold" panose="020B0604020202020204" charset="-18"/>
      <p:regular r:id="rId21"/>
      <p:bold r:id="rId22"/>
      <p:italic r:id="rId23"/>
      <p:boldItalic r:id="rId24"/>
    </p:embeddedFont>
    <p:embeddedFont>
      <p:font typeface="Calibri" panose="020F050202020403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DC6698F-2E32-4FC1-B37C-1FA837B52681}">
  <a:tblStyle styleId="{5DC6698F-2E32-4FC1-B37C-1FA837B5268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148" autoAdjust="0"/>
  </p:normalViewPr>
  <p:slideViewPr>
    <p:cSldViewPr snapToGrid="0">
      <p:cViewPr varScale="1">
        <p:scale>
          <a:sx n="63" d="100"/>
          <a:sy n="63" d="100"/>
        </p:scale>
        <p:origin x="996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666510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491601" y="1270643"/>
            <a:ext cx="8421052" cy="2742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0000"/>
              </a:lnSpc>
            </a:pPr>
            <a:r>
              <a:rPr lang="en-US" sz="5400" b="0" i="0" u="none" strike="noStrike" cap="none" dirty="0">
                <a:solidFill>
                  <a:srgbClr val="2563EB"/>
                </a:solidFill>
                <a:latin typeface="Urbanist"/>
                <a:ea typeface="Urbanist"/>
                <a:cs typeface="Urbanist"/>
                <a:sym typeface="Urbanist"/>
              </a:rPr>
              <a:t>KOSIARKOBOT </a:t>
            </a:r>
            <a:r>
              <a:rPr lang="en-US" sz="5400" b="0" i="0" u="none" strike="noStrike" cap="none" dirty="0" smtClean="0">
                <a:solidFill>
                  <a:srgbClr val="2563EB"/>
                </a:solidFill>
                <a:latin typeface="Urbanist"/>
                <a:ea typeface="Urbanist"/>
                <a:cs typeface="Urbanist"/>
                <a:sym typeface="Urbanist"/>
              </a:rPr>
              <a:t>2.0</a:t>
            </a:r>
            <a:r>
              <a:rPr lang="pl-PL" sz="5400" b="0" i="0" u="none" strike="noStrike" cap="none" dirty="0" smtClean="0">
                <a:solidFill>
                  <a:srgbClr val="2563EB"/>
                </a:solidFill>
                <a:latin typeface="Urbanist"/>
                <a:ea typeface="Urbanist"/>
                <a:cs typeface="Urbanist"/>
                <a:sym typeface="Urbanist"/>
              </a:rPr>
              <a:t> - </a:t>
            </a:r>
            <a:r>
              <a:rPr lang="en-US" sz="5400" b="1" dirty="0" err="1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Webowy</a:t>
            </a:r>
            <a:r>
              <a:rPr lang="en-US" sz="5400" b="1" dirty="0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 System </a:t>
            </a:r>
            <a:r>
              <a:rPr lang="en-US" sz="5400" b="1" dirty="0" err="1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Zarządzania</a:t>
            </a:r>
            <a:r>
              <a:rPr lang="en-US" sz="5400" b="1" dirty="0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5400" b="1" dirty="0" err="1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Magazynem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607010" y="4119168"/>
            <a:ext cx="4124788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cap="none" dirty="0" err="1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Autor</a:t>
            </a:r>
            <a:r>
              <a:rPr lang="en-US" sz="1800" b="1" i="0" u="none" strike="noStrike" cap="none" dirty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 Antoni </a:t>
            </a:r>
            <a:r>
              <a:rPr lang="en-US" sz="1800" b="0" i="0" u="none" strike="noStrike" cap="none" dirty="0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Grycmann</a:t>
            </a:r>
            <a:endParaRPr lang="pl-P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R="0" lvl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 u="none" strike="noStrike" cap="none" dirty="0" err="1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Prowadzący</a:t>
            </a:r>
            <a:r>
              <a:rPr lang="en-US" sz="1800" b="1" i="0" u="none" strike="noStrike" cap="none" dirty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800" b="0" i="0" u="none" strike="noStrike" cap="none" dirty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endParaRPr lang="pl-PL" sz="1800" dirty="0">
              <a:solidFill>
                <a:srgbClr val="64748B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cap="none" dirty="0" err="1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Dr</a:t>
            </a:r>
            <a:r>
              <a:rPr lang="en-US" sz="1800" b="0" i="0" u="none" strike="noStrike" cap="none" dirty="0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800" b="0" i="0" u="none" strike="noStrike" cap="none" dirty="0" err="1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inż</a:t>
            </a:r>
            <a:r>
              <a:rPr lang="en-US" sz="1800" b="0" i="0" u="none" strike="noStrike" cap="none" dirty="0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r>
              <a:rPr lang="en-US" sz="1800" b="0" i="0" u="none" strike="noStrike" cap="none" dirty="0" err="1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Dawid</a:t>
            </a:r>
            <a:r>
              <a:rPr lang="en-US" sz="1800" b="0" i="0" u="none" strike="noStrike" cap="none" dirty="0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800" b="0" i="0" u="none" strike="noStrike" cap="none" dirty="0" err="1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Buła</a:t>
            </a:r>
            <a:endParaRPr lang="pl-PL" sz="1800" dirty="0">
              <a:solidFill>
                <a:srgbClr val="64748B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l-PL" sz="1800" b="0" i="0" u="none" strike="noStrike" cap="none" dirty="0" smtClean="0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Dr inż. Artur Pasierbek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/>
          <p:nvPr/>
        </p:nvSpPr>
        <p:spPr>
          <a:xfrm>
            <a:off x="5715000" y="857250"/>
            <a:ext cx="762000" cy="571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295275" y="1200150"/>
            <a:ext cx="11601450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 err="1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Logika</a:t>
            </a:r>
            <a:r>
              <a:rPr lang="en-US" sz="5400" b="1" i="0" u="none" strike="noStrike" cap="none" dirty="0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5400" b="1" i="0" u="none" strike="noStrike" cap="none" dirty="0" err="1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Biznesowa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 dirty="0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 &amp; </a:t>
            </a:r>
            <a:r>
              <a:rPr lang="en-US" sz="5400" b="1" i="0" u="none" strike="noStrike" cap="none" dirty="0" err="1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Strategia</a:t>
            </a:r>
            <a:r>
              <a:rPr lang="en-US" sz="5400" b="1" i="0" u="none" strike="noStrike" cap="none" dirty="0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5400" b="1" i="0" u="none" strike="noStrike" cap="none" dirty="0" err="1">
                <a:solidFill>
                  <a:srgbClr val="0F172A"/>
                </a:solidFill>
                <a:latin typeface="Urbanist"/>
                <a:ea typeface="Urbanist"/>
                <a:cs typeface="Urbanist"/>
                <a:sym typeface="Urbanist"/>
              </a:rPr>
              <a:t>Projektu</a:t>
            </a:r>
            <a:endParaRPr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571500" y="2899171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Ewolucja architektury w odpowiedzi na wymagania rynkowe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14625"/>
            <a:ext cx="5238750" cy="246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714625"/>
            <a:ext cx="5238750" cy="246697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5"/>
          <p:cNvSpPr txBox="1"/>
          <p:nvPr/>
        </p:nvSpPr>
        <p:spPr>
          <a:xfrm>
            <a:off x="962025" y="3105150"/>
            <a:ext cx="468058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Ograniczenia Wersji 1.0</a:t>
            </a:r>
            <a:endParaRPr/>
          </a:p>
        </p:txBody>
      </p:sp>
      <p:sp>
        <p:nvSpPr>
          <p:cNvPr id="103" name="Google Shape;103;p15"/>
          <p:cNvSpPr txBox="1"/>
          <p:nvPr/>
        </p:nvSpPr>
        <p:spPr>
          <a:xfrm>
            <a:off x="962025" y="3571875"/>
            <a:ext cx="44577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Niescentralizowana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ewidencja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oparta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na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plikach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tekstowych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generowała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ryzyko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utraty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danych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błędów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inwentaryzacyjnych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Brak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architektury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klient-serwer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uniemożliwiał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skalowanie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systemu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04" name="Google Shape;104;p15"/>
          <p:cNvSpPr txBox="1"/>
          <p:nvPr/>
        </p:nvSpPr>
        <p:spPr>
          <a:xfrm>
            <a:off x="6772275" y="3105150"/>
            <a:ext cx="468058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Przewaga Kosiarkobota 2.0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6772275" y="3571875"/>
            <a:ext cx="44577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Implementacja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relacyjnej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bazy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danych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PostgreSQL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oraz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interfejsu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webowego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(Spring Boot)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zapewnia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bezpieczeństwo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ACID,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pracę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wielostanowiskową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automatyzację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wyceny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w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czasie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rzeczywistym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06" name="Google Shape;106;p15"/>
          <p:cNvSpPr txBox="1"/>
          <p:nvPr/>
        </p:nvSpPr>
        <p:spPr>
          <a:xfrm>
            <a:off x="571500" y="571500"/>
            <a:ext cx="116014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pl-PL" sz="1800" dirty="0" err="1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Kosiarkobot</a:t>
            </a:r>
            <a:r>
              <a:rPr lang="pl-PL" sz="1800" dirty="0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 2.0 rozwiązuje błędy inwentaryzacyjne poprzez migrację do architektury klient-serwer</a:t>
            </a:r>
            <a:endParaRPr sz="900" dirty="0"/>
          </a:p>
        </p:txBody>
      </p:sp>
      <p:sp>
        <p:nvSpPr>
          <p:cNvPr id="107" name="Google Shape;107;p15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/>
        </p:nvSpPr>
        <p:spPr>
          <a:xfrm>
            <a:off x="571500" y="1804392"/>
            <a:ext cx="55006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Paradygmat</a:t>
            </a:r>
            <a:r>
              <a:rPr lang="en-US" sz="2100" b="0" i="0" u="none" strike="noStrike" cap="none" dirty="0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 </a:t>
            </a:r>
            <a:r>
              <a:rPr lang="en-US" sz="2100" b="0" i="0" u="none" strike="noStrike" cap="none" dirty="0" err="1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Modernizacji</a:t>
            </a:r>
            <a:endParaRPr dirty="0"/>
          </a:p>
        </p:txBody>
      </p:sp>
      <p:sp>
        <p:nvSpPr>
          <p:cNvPr id="115" name="Google Shape;115;p16"/>
          <p:cNvSpPr txBox="1"/>
          <p:nvPr/>
        </p:nvSpPr>
        <p:spPr>
          <a:xfrm>
            <a:off x="571500" y="2370361"/>
            <a:ext cx="52387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Świadoma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decyzja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o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rezygnacji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z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biblioteki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JavaFX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na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rzecz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rozwiązań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serwerowych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Przejście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z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modelu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lokalnego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na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architekturę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webową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pozwoliło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na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centralizację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danych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poprawę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ergonomii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pracy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biurowej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17" name="Google Shape;117;p16"/>
          <p:cNvSpPr txBox="1"/>
          <p:nvPr/>
        </p:nvSpPr>
        <p:spPr>
          <a:xfrm>
            <a:off x="1000125" y="3954958"/>
            <a:ext cx="48101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Trwałość danych (PostgreSQL)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1000125" y="4575869"/>
            <a:ext cx="48101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Dostępność przeglądarkowa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1000125" y="5196780"/>
            <a:ext cx="48101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Architektura MVC</a:t>
            </a:r>
            <a:endParaRPr/>
          </a:p>
        </p:txBody>
      </p:sp>
      <p:pic>
        <p:nvPicPr>
          <p:cNvPr id="120" name="Google Shape;12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97821"/>
            <a:ext cx="2476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618732"/>
            <a:ext cx="2476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239642"/>
            <a:ext cx="24765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Ewolucja Technologiczna: Desktop do Web</a:t>
            </a:r>
            <a:endParaRPr/>
          </a:p>
        </p:txBody>
      </p:sp>
      <p:sp>
        <p:nvSpPr>
          <p:cNvPr id="124" name="Google Shape;124;p16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2" descr="https://scontent.fktw6-1.fna.fbcdn.net/v/t39.30808-6/435798839_333955379691811_5190538711917450791_n.jpg?_nc_cat=109&amp;ccb=1-7&amp;_nc_sid=6ee11a&amp;_nc_ohc=jwWeytG3sKUQ7kNvwHmkqEb&amp;_nc_oc=AdlzYnN-7oJMisHeUwJhFiXzGLedh-q1vCCARfs6aTDAmvTUfF1PwWmZJ3ZDq1azUr9OUwQ1BBfDPMPJ8uoXfWJY&amp;_nc_zt=23&amp;_nc_ht=scontent.fktw6-1.fna&amp;_nc_gid=-tfgam0vqOHqeoiKfmb1PQ&amp;oh=00_Afux1aGd0-WoR3IeqyDA5e3CqwrUyJXyTZLSgWtgOY08MA&amp;oe=698FF599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3687" y="1406841"/>
            <a:ext cx="4805582" cy="4805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86025"/>
            <a:ext cx="3492549" cy="292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486025"/>
            <a:ext cx="3492549" cy="292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486025"/>
            <a:ext cx="3492549" cy="2924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7"/>
          <p:cNvSpPr txBox="1"/>
          <p:nvPr/>
        </p:nvSpPr>
        <p:spPr>
          <a:xfrm>
            <a:off x="866775" y="3429000"/>
            <a:ext cx="304709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Java 21 LTS</a:t>
            </a:r>
            <a:endParaRPr/>
          </a:p>
        </p:txBody>
      </p:sp>
      <p:sp>
        <p:nvSpPr>
          <p:cNvPr id="134" name="Google Shape;134;p17"/>
          <p:cNvSpPr txBox="1"/>
          <p:nvPr/>
        </p:nvSpPr>
        <p:spPr>
          <a:xfrm>
            <a:off x="866775" y="3895725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Wykorzystanie Stream API do wysokowydajnych obliczeń finansowych i logicznego filtrowania kolekcji danych.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4645074" y="3429000"/>
            <a:ext cx="304709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Spring Boot 3.2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4645074" y="3895725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Zastosowanie wstrzykiwania zależności (DI) oraz Spring Data JPA do automatyzacji warstwy dostępowej.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8423374" y="3429000"/>
            <a:ext cx="304709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PostgreSQL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8423374" y="3895725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Przejście na standard rynkowy w przechowywaniu danych. Eliminacja problemów ulotności plików tekstowych.</a:t>
            </a:r>
            <a:endParaRPr/>
          </a:p>
        </p:txBody>
      </p:sp>
      <p:pic>
        <p:nvPicPr>
          <p:cNvPr id="139" name="Google Shape;139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809875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8098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809875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7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 dirty="0" err="1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Nowoczesny</a:t>
            </a:r>
            <a:r>
              <a:rPr lang="en-US" sz="3300" b="0" i="0" u="none" strike="noStrike" cap="none" dirty="0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 Stack </a:t>
            </a:r>
            <a:r>
              <a:rPr lang="en-US" sz="3300" b="0" i="0" u="none" strike="noStrike" cap="none" dirty="0" err="1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Technologiczny</a:t>
            </a:r>
            <a:endParaRPr dirty="0"/>
          </a:p>
        </p:txBody>
      </p:sp>
      <p:sp>
        <p:nvSpPr>
          <p:cNvPr id="143" name="Google Shape;143;p17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8"/>
          <p:cNvSpPr txBox="1"/>
          <p:nvPr/>
        </p:nvSpPr>
        <p:spPr>
          <a:xfrm>
            <a:off x="762000" y="571500"/>
            <a:ext cx="48006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Architektura Systemu</a:t>
            </a: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762000" y="1219200"/>
            <a:ext cx="4572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 txBox="1"/>
          <p:nvPr/>
        </p:nvSpPr>
        <p:spPr>
          <a:xfrm>
            <a:off x="762000" y="1609725"/>
            <a:ext cx="48006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Model-View-Controller (MVC)</a:t>
            </a:r>
            <a:endParaRPr/>
          </a:p>
        </p:txBody>
      </p:sp>
      <p:sp>
        <p:nvSpPr>
          <p:cNvPr id="152" name="Google Shape;152;p18"/>
          <p:cNvSpPr txBox="1"/>
          <p:nvPr/>
        </p:nvSpPr>
        <p:spPr>
          <a:xfrm>
            <a:off x="762000" y="2076450"/>
            <a:ext cx="4572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System został zaprojektowany z myślą o separacji odpowiedzialności:</a:t>
            </a:r>
            <a:endParaRPr/>
          </a:p>
        </p:txBody>
      </p:sp>
      <p:pic>
        <p:nvPicPr>
          <p:cNvPr id="153" name="Google Shape;15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739282"/>
            <a:ext cx="4572000" cy="101709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8"/>
          <p:cNvSpPr txBox="1"/>
          <p:nvPr/>
        </p:nvSpPr>
        <p:spPr>
          <a:xfrm>
            <a:off x="1190625" y="2876550"/>
            <a:ext cx="4143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Model: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Encje JPA (Robot.java)</a:t>
            </a:r>
            <a:endParaRPr/>
          </a:p>
        </p:txBody>
      </p:sp>
      <p:sp>
        <p:nvSpPr>
          <p:cNvPr id="156" name="Google Shape;156;p18"/>
          <p:cNvSpPr txBox="1"/>
          <p:nvPr/>
        </p:nvSpPr>
        <p:spPr>
          <a:xfrm>
            <a:off x="1190625" y="3497460"/>
            <a:ext cx="4143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View: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Szablony Thymeleaf (HTML/CSS)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1190625" y="4118371"/>
            <a:ext cx="4143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Controller: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Zarządzanie żądaniami HTTP</a:t>
            </a:r>
            <a:endParaRPr/>
          </a:p>
        </p:txBody>
      </p:sp>
      <p:pic>
        <p:nvPicPr>
          <p:cNvPr id="12" name="Obraz 11" descr="C:\Users\Antoni\AppData\Local\Microsoft\Windows\INetCache\Content.MSO\E1D83D8A.tmp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2802" y="369660"/>
            <a:ext cx="3720216" cy="55852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63" name="Google Shape;163;p19"/>
          <p:cNvGraphicFramePr/>
          <p:nvPr/>
        </p:nvGraphicFramePr>
        <p:xfrm>
          <a:off x="571500" y="2581275"/>
          <a:ext cx="11049025" cy="2924125"/>
        </p:xfrm>
        <a:graphic>
          <a:graphicData uri="http://schemas.openxmlformats.org/drawingml/2006/table">
            <a:tbl>
              <a:tblPr firstRow="1" bandRow="1">
                <a:noFill/>
                <a:tableStyleId>{5DC6698F-2E32-4FC1-B37C-1FA837B52681}</a:tableStyleId>
              </a:tblPr>
              <a:tblGrid>
                <a:gridCol w="308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4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8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5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4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FFFFFF"/>
                          </a:solidFill>
                          <a:latin typeface="Urbanist SemiBold"/>
                          <a:ea typeface="Urbanist SemiBold"/>
                          <a:cs typeface="Urbanist SemiBold"/>
                          <a:sym typeface="Urbanist SemiBold"/>
                        </a:rPr>
                        <a:t>Funkcjonalność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FFFFFF"/>
                          </a:solidFill>
                          <a:latin typeface="Urbanist SemiBold"/>
                          <a:ea typeface="Urbanist SemiBold"/>
                          <a:cs typeface="Urbanist SemiBold"/>
                          <a:sym typeface="Urbanist SemiBold"/>
                        </a:rPr>
                        <a:t>Wersja 1.0 (Desktop)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FFFFFF"/>
                          </a:solidFill>
                          <a:latin typeface="Urbanist SemiBold"/>
                          <a:ea typeface="Urbanist SemiBold"/>
                          <a:cs typeface="Urbanist SemiBold"/>
                          <a:sym typeface="Urbanist SemiBold"/>
                        </a:rPr>
                        <a:t>Wersja 2.0 (Web)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FFFFFF"/>
                          </a:solidFill>
                          <a:latin typeface="Urbanist SemiBold"/>
                          <a:ea typeface="Urbanist SemiBold"/>
                          <a:cs typeface="Urbanist SemiBold"/>
                          <a:sym typeface="Urbanist SemiBold"/>
                        </a:rPr>
                        <a:t>Status Rynkowy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Przechowywanie danych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Plik .txt / CSV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Baza PostgreSQL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Profesjonalny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Architektura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Monolit lokalny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Klient-Serwer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Skalowalny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Integracja Widoku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JavaFX / Scene Builder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Thymeleaf / HTML5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Nowoczesny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Bezpieczeństwo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Brak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Transakcyjność JPA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1E293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Wysoki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4" name="Google Shape;164;p19"/>
          <p:cNvSpPr/>
          <p:nvPr/>
        </p:nvSpPr>
        <p:spPr>
          <a:xfrm>
            <a:off x="571500" y="3776662"/>
            <a:ext cx="3080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9"/>
          <p:cNvSpPr/>
          <p:nvPr/>
        </p:nvSpPr>
        <p:spPr>
          <a:xfrm>
            <a:off x="3652242" y="3776662"/>
            <a:ext cx="294471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9"/>
          <p:cNvSpPr/>
          <p:nvPr/>
        </p:nvSpPr>
        <p:spPr>
          <a:xfrm>
            <a:off x="6596955" y="3776662"/>
            <a:ext cx="2598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9"/>
          <p:cNvSpPr/>
          <p:nvPr/>
        </p:nvSpPr>
        <p:spPr>
          <a:xfrm>
            <a:off x="9195196" y="3776662"/>
            <a:ext cx="24253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9"/>
          <p:cNvSpPr/>
          <p:nvPr/>
        </p:nvSpPr>
        <p:spPr>
          <a:xfrm>
            <a:off x="571500" y="4348162"/>
            <a:ext cx="3080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9"/>
          <p:cNvSpPr/>
          <p:nvPr/>
        </p:nvSpPr>
        <p:spPr>
          <a:xfrm>
            <a:off x="3652242" y="4348162"/>
            <a:ext cx="294471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9"/>
          <p:cNvSpPr/>
          <p:nvPr/>
        </p:nvSpPr>
        <p:spPr>
          <a:xfrm>
            <a:off x="6596955" y="4348162"/>
            <a:ext cx="2598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9195196" y="4348162"/>
            <a:ext cx="24253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571500" y="4919662"/>
            <a:ext cx="3080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3652242" y="4919662"/>
            <a:ext cx="294471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6596955" y="4919662"/>
            <a:ext cx="2598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9195196" y="4919662"/>
            <a:ext cx="24253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571500" y="5491162"/>
            <a:ext cx="3080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3652242" y="5491162"/>
            <a:ext cx="294471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6596955" y="5491162"/>
            <a:ext cx="2598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9195196" y="5491162"/>
            <a:ext cx="24253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Kluczowe Przewagi Projektu</a:t>
            </a: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9"/>
          <p:cNvSpPr/>
          <p:nvPr/>
        </p:nvSpPr>
        <p:spPr>
          <a:xfrm>
            <a:off x="571500" y="3776662"/>
            <a:ext cx="3080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9"/>
          <p:cNvSpPr/>
          <p:nvPr/>
        </p:nvSpPr>
        <p:spPr>
          <a:xfrm>
            <a:off x="3652242" y="3776662"/>
            <a:ext cx="294471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9"/>
          <p:cNvSpPr/>
          <p:nvPr/>
        </p:nvSpPr>
        <p:spPr>
          <a:xfrm>
            <a:off x="6596955" y="3776662"/>
            <a:ext cx="2598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9"/>
          <p:cNvSpPr/>
          <p:nvPr/>
        </p:nvSpPr>
        <p:spPr>
          <a:xfrm>
            <a:off x="9195196" y="3776662"/>
            <a:ext cx="24253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9"/>
          <p:cNvSpPr/>
          <p:nvPr/>
        </p:nvSpPr>
        <p:spPr>
          <a:xfrm>
            <a:off x="571500" y="4348162"/>
            <a:ext cx="3080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9"/>
          <p:cNvSpPr/>
          <p:nvPr/>
        </p:nvSpPr>
        <p:spPr>
          <a:xfrm>
            <a:off x="3652242" y="4348162"/>
            <a:ext cx="294471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9"/>
          <p:cNvSpPr/>
          <p:nvPr/>
        </p:nvSpPr>
        <p:spPr>
          <a:xfrm>
            <a:off x="6596955" y="4348162"/>
            <a:ext cx="2598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9195196" y="4348162"/>
            <a:ext cx="24253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571500" y="4919662"/>
            <a:ext cx="3080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3652242" y="4919662"/>
            <a:ext cx="294471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6596955" y="4919662"/>
            <a:ext cx="2598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9195196" y="4919662"/>
            <a:ext cx="24253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571500" y="5491162"/>
            <a:ext cx="3080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3652242" y="5491162"/>
            <a:ext cx="294471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6596955" y="5491162"/>
            <a:ext cx="2598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9195196" y="5491162"/>
            <a:ext cx="24253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300" dirty="0" err="1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Interfejs</a:t>
            </a:r>
            <a:r>
              <a:rPr lang="en-US" sz="3300" dirty="0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 </a:t>
            </a:r>
            <a:r>
              <a:rPr lang="en-US" sz="3300" dirty="0" err="1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Użytkownika</a:t>
            </a:r>
            <a:r>
              <a:rPr lang="en-US" sz="3300" dirty="0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 (Web UI)</a:t>
            </a:r>
            <a:endParaRPr dirty="0"/>
          </a:p>
        </p:txBody>
      </p:sp>
      <p:sp>
        <p:nvSpPr>
          <p:cNvPr id="181" name="Google Shape;181;p19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" name="Obraz 21"/>
          <p:cNvPicPr/>
          <p:nvPr/>
        </p:nvPicPr>
        <p:blipFill>
          <a:blip r:embed="rId4"/>
          <a:stretch>
            <a:fillRect/>
          </a:stretch>
        </p:blipFill>
        <p:spPr>
          <a:xfrm>
            <a:off x="571500" y="1360065"/>
            <a:ext cx="9091751" cy="483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907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09725"/>
            <a:ext cx="11049000" cy="467677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/>
          <p:nvPr/>
        </p:nvSpPr>
        <p:spPr>
          <a:xfrm>
            <a:off x="571500" y="4938712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Dane wykazują drastyczny spadek ryzyka kolizji danych przy przejściu na model relacyjny.</a:t>
            </a:r>
            <a:endParaRPr/>
          </a:p>
        </p:txBody>
      </p:sp>
      <p:sp>
        <p:nvSpPr>
          <p:cNvPr id="189" name="Google Shape;189;p20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Efektywność Operacyjna Systemu</a:t>
            </a:r>
            <a:endParaRPr/>
          </a:p>
        </p:txBody>
      </p:sp>
      <p:sp>
        <p:nvSpPr>
          <p:cNvPr id="190" name="Google Shape;190;p20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1"/>
          <p:cNvSpPr txBox="1"/>
          <p:nvPr/>
        </p:nvSpPr>
        <p:spPr>
          <a:xfrm>
            <a:off x="571500" y="2895600"/>
            <a:ext cx="388509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 dirty="0" smtClean="0">
                <a:solidFill>
                  <a:srgbClr val="2563EB"/>
                </a:solidFill>
                <a:latin typeface="Urbanist"/>
                <a:ea typeface="Urbanist"/>
                <a:cs typeface="Urbanist"/>
                <a:sym typeface="Urbanist"/>
              </a:rPr>
              <a:t>10</a:t>
            </a:r>
            <a:r>
              <a:rPr lang="pl-PL" sz="12000" b="1" i="0" u="none" strike="noStrike" cap="none" dirty="0" smtClean="0">
                <a:solidFill>
                  <a:srgbClr val="2563EB"/>
                </a:solidFill>
                <a:latin typeface="Urbanist"/>
                <a:ea typeface="Urbanist"/>
                <a:cs typeface="Urbanist"/>
                <a:sym typeface="Urbanist"/>
              </a:rPr>
              <a:t>0</a:t>
            </a:r>
            <a:r>
              <a:rPr lang="en-US" sz="12000" b="1" i="0" u="none" strike="noStrike" cap="none" dirty="0" smtClean="0">
                <a:solidFill>
                  <a:srgbClr val="2563EB"/>
                </a:solidFill>
                <a:latin typeface="Urbanist"/>
                <a:ea typeface="Urbanist"/>
                <a:cs typeface="Urbanist"/>
                <a:sym typeface="Urbanist"/>
              </a:rPr>
              <a:t>%</a:t>
            </a:r>
            <a:endParaRPr dirty="0"/>
          </a:p>
        </p:txBody>
      </p:sp>
      <p:sp>
        <p:nvSpPr>
          <p:cNvPr id="197" name="Google Shape;197;p21"/>
          <p:cNvSpPr txBox="1"/>
          <p:nvPr/>
        </p:nvSpPr>
        <p:spPr>
          <a:xfrm>
            <a:off x="571500" y="4724400"/>
            <a:ext cx="32766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Walidacja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 SQL</a:t>
            </a:r>
            <a:endParaRPr dirty="0"/>
          </a:p>
        </p:txBody>
      </p:sp>
      <p:sp>
        <p:nvSpPr>
          <p:cNvPr id="198" name="Google Shape;198;p21"/>
          <p:cNvSpPr txBox="1"/>
          <p:nvPr/>
        </p:nvSpPr>
        <p:spPr>
          <a:xfrm>
            <a:off x="4610100" y="3257550"/>
            <a:ext cx="73609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Eliminacja Anomalii</a:t>
            </a:r>
            <a:endParaRPr/>
          </a:p>
        </p:txBody>
      </p:sp>
      <p:sp>
        <p:nvSpPr>
          <p:cNvPr id="199" name="Google Shape;199;p21"/>
          <p:cNvSpPr txBox="1"/>
          <p:nvPr/>
        </p:nvSpPr>
        <p:spPr>
          <a:xfrm>
            <a:off x="4610100" y="3724275"/>
            <a:ext cx="7010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Wdrożenie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mechanizmu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ochrony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integralności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podczas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usuwania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rekordów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Rozwiązano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problem </a:t>
            </a:r>
            <a:r>
              <a:rPr lang="en-US" sz="15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anomalii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usuwania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(deletion anomaly)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poprzez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analizę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powiązań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kluczy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obcych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logikę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warstwy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serwisu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200" name="Google Shape;200;p21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Pewność i Integralność</a:t>
            </a:r>
            <a:endParaRPr/>
          </a:p>
        </p:txBody>
      </p:sp>
      <p:sp>
        <p:nvSpPr>
          <p:cNvPr id="201" name="Google Shape;201;p21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86025"/>
            <a:ext cx="3492549" cy="292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486025"/>
            <a:ext cx="3492549" cy="292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486025"/>
            <a:ext cx="3492549" cy="2924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2"/>
          <p:cNvSpPr txBox="1"/>
          <p:nvPr/>
        </p:nvSpPr>
        <p:spPr>
          <a:xfrm>
            <a:off x="866775" y="3429000"/>
            <a:ext cx="304709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Konflikt Portów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866775" y="3895725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Diagnoza zajętości portu 8081. Zastosowanie narzędzi systemowych netstat i taskkill do odblokowania procesu serwera.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4645074" y="3429000"/>
            <a:ext cx="304709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Mapowanie ORM</a:t>
            </a:r>
            <a:endParaRPr/>
          </a:p>
        </p:txBody>
      </p:sp>
      <p:sp>
        <p:nvSpPr>
          <p:cNvPr id="213" name="Google Shape;213;p22"/>
          <p:cNvSpPr txBox="1"/>
          <p:nvPr/>
        </p:nvSpPr>
        <p:spPr>
          <a:xfrm>
            <a:off x="4645074" y="3895725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Odwzorowanie złożonej logiki biznesowej na sztywne schematy tabel PostgreSQL przy zachowaniu wydajności.</a:t>
            </a:r>
            <a:endParaRPr/>
          </a:p>
        </p:txBody>
      </p:sp>
      <p:sp>
        <p:nvSpPr>
          <p:cNvPr id="214" name="Google Shape;214;p22"/>
          <p:cNvSpPr txBox="1"/>
          <p:nvPr/>
        </p:nvSpPr>
        <p:spPr>
          <a:xfrm>
            <a:off x="8423374" y="3429000"/>
            <a:ext cx="304709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34155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Persistence</a:t>
            </a:r>
            <a:endParaRPr/>
          </a:p>
        </p:txBody>
      </p:sp>
      <p:sp>
        <p:nvSpPr>
          <p:cNvPr id="215" name="Google Shape;215;p22"/>
          <p:cNvSpPr txBox="1"/>
          <p:nvPr/>
        </p:nvSpPr>
        <p:spPr>
          <a:xfrm>
            <a:off x="8423374" y="3895725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Migracja z niespójnych plików płaskich na transakcyjny system składowania danych w środowisku Spring.</a:t>
            </a:r>
            <a:endParaRPr/>
          </a:p>
        </p:txBody>
      </p:sp>
      <p:pic>
        <p:nvPicPr>
          <p:cNvPr id="216" name="Google Shape;216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8098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809875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8098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2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Wyzwania Inżynierskie</a:t>
            </a:r>
            <a:endParaRPr/>
          </a:p>
        </p:txBody>
      </p:sp>
      <p:sp>
        <p:nvSpPr>
          <p:cNvPr id="220" name="Google Shape;220;p22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3"/>
          <p:cNvSpPr txBox="1"/>
          <p:nvPr/>
        </p:nvSpPr>
        <p:spPr>
          <a:xfrm>
            <a:off x="1000125" y="2706290"/>
            <a:ext cx="10620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Security Module: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Implementacja Spring Security oraz systemu ról (Kierownik / Sprzedawca).</a:t>
            </a:r>
            <a:endParaRPr/>
          </a:p>
        </p:txBody>
      </p:sp>
      <p:sp>
        <p:nvSpPr>
          <p:cNvPr id="227" name="Google Shape;227;p23"/>
          <p:cNvSpPr txBox="1"/>
          <p:nvPr/>
        </p:nvSpPr>
        <p:spPr>
          <a:xfrm>
            <a:off x="1000125" y="3327201"/>
            <a:ext cx="10620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Soft Delete: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Wprowadzenie flagi aktywności rekordu zamiast fizycznego kasowania danych.</a:t>
            </a:r>
            <a:endParaRPr/>
          </a:p>
        </p:txBody>
      </p:sp>
      <p:sp>
        <p:nvSpPr>
          <p:cNvPr id="228" name="Google Shape;228;p23"/>
          <p:cNvSpPr txBox="1"/>
          <p:nvPr/>
        </p:nvSpPr>
        <p:spPr>
          <a:xfrm>
            <a:off x="1000125" y="3948112"/>
            <a:ext cx="10620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Reporting Engine: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Moduł generowania faktur i raportów magazynowych w formacie PDF/XLSX.</a:t>
            </a:r>
            <a:endParaRPr/>
          </a:p>
        </p:txBody>
      </p:sp>
      <p:sp>
        <p:nvSpPr>
          <p:cNvPr id="229" name="Google Shape;229;p23"/>
          <p:cNvSpPr txBox="1"/>
          <p:nvPr/>
        </p:nvSpPr>
        <p:spPr>
          <a:xfrm>
            <a:off x="1000125" y="4569023"/>
            <a:ext cx="10620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Cloud Deployment: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 Konteneryzacja (Docker) i hosting na platformach chmurowych (AWS/Azure).</a:t>
            </a:r>
            <a:endParaRPr/>
          </a:p>
        </p:txBody>
      </p:sp>
      <p:pic>
        <p:nvPicPr>
          <p:cNvPr id="230" name="Google Shape;230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49153"/>
            <a:ext cx="2476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370064"/>
            <a:ext cx="2190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90975"/>
            <a:ext cx="2476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611885"/>
            <a:ext cx="31432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3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Strategia Rozwoju: Road Map</a:t>
            </a:r>
            <a:endParaRPr/>
          </a:p>
        </p:txBody>
      </p:sp>
      <p:sp>
        <p:nvSpPr>
          <p:cNvPr id="235" name="Google Shape;235;p23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4"/>
          <p:cNvSpPr txBox="1"/>
          <p:nvPr/>
        </p:nvSpPr>
        <p:spPr>
          <a:xfrm>
            <a:off x="295275" y="2172592"/>
            <a:ext cx="1160145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Pytania?</a:t>
            </a:r>
            <a:endParaRPr/>
          </a:p>
        </p:txBody>
      </p:sp>
      <p:sp>
        <p:nvSpPr>
          <p:cNvPr id="242" name="Google Shape;242;p24"/>
          <p:cNvSpPr txBox="1"/>
          <p:nvPr/>
        </p:nvSpPr>
        <p:spPr>
          <a:xfrm>
            <a:off x="571500" y="3410842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Dziękuję za uwagę i zapraszam do dyskusji.</a:t>
            </a:r>
            <a:endParaRPr/>
          </a:p>
        </p:txBody>
      </p:sp>
      <p:sp>
        <p:nvSpPr>
          <p:cNvPr id="243" name="Google Shape;243;p24"/>
          <p:cNvSpPr txBox="1"/>
          <p:nvPr/>
        </p:nvSpPr>
        <p:spPr>
          <a:xfrm>
            <a:off x="571500" y="4409033"/>
            <a:ext cx="110490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563EB"/>
                </a:solidFill>
                <a:latin typeface="Urbanist"/>
                <a:ea typeface="Urbanist"/>
                <a:cs typeface="Urbanist"/>
                <a:sym typeface="Urbanist"/>
              </a:rPr>
              <a:t>Antoni Grycmann | Kosiarkobot 2.0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5"/>
          <p:cNvSpPr/>
          <p:nvPr/>
        </p:nvSpPr>
        <p:spPr>
          <a:xfrm>
            <a:off x="571500" y="3168104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5"/>
          <p:cNvSpPr/>
          <p:nvPr/>
        </p:nvSpPr>
        <p:spPr>
          <a:xfrm>
            <a:off x="571500" y="394335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5"/>
          <p:cNvSpPr/>
          <p:nvPr/>
        </p:nvSpPr>
        <p:spPr>
          <a:xfrm>
            <a:off x="571500" y="394335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2" name="Google Shape;25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17527"/>
            <a:ext cx="135255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5"/>
          <p:cNvSpPr txBox="1"/>
          <p:nvPr/>
        </p:nvSpPr>
        <p:spPr>
          <a:xfrm>
            <a:off x="1666875" y="3310979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https://ideamower.com/cdn/shop/articles/ChatGPT_Image_15_mag_2026_14_30_37_afaf6017-f562-4846-bc3d-ff1ecad5b78e_1000x.png?v=1778849300</a:t>
            </a:r>
            <a:endParaRPr/>
          </a:p>
        </p:txBody>
      </p:sp>
      <p:sp>
        <p:nvSpPr>
          <p:cNvPr id="254" name="Google Shape;254;p25"/>
          <p:cNvSpPr txBox="1"/>
          <p:nvPr/>
        </p:nvSpPr>
        <p:spPr>
          <a:xfrm>
            <a:off x="1666875" y="3556694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ideamower.com</a:t>
            </a:r>
            <a:endParaRPr/>
          </a:p>
        </p:txBody>
      </p:sp>
      <p:pic>
        <p:nvPicPr>
          <p:cNvPr id="255" name="Google Shape;255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102298"/>
            <a:ext cx="11430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5"/>
          <p:cNvSpPr txBox="1"/>
          <p:nvPr/>
        </p:nvSpPr>
        <p:spPr>
          <a:xfrm>
            <a:off x="1666875" y="4095750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https://emerline.com/images/blog/2433d376758e65a29ee2fc121e3efb2e-736x425_modern_web_development.webp</a:t>
            </a:r>
            <a:endParaRPr/>
          </a:p>
        </p:txBody>
      </p:sp>
      <p:sp>
        <p:nvSpPr>
          <p:cNvPr id="257" name="Google Shape;257;p25"/>
          <p:cNvSpPr txBox="1"/>
          <p:nvPr/>
        </p:nvSpPr>
        <p:spPr>
          <a:xfrm>
            <a:off x="1666875" y="4341465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emerline.com</a:t>
            </a:r>
            <a:endParaRPr/>
          </a:p>
        </p:txBody>
      </p:sp>
      <p:sp>
        <p:nvSpPr>
          <p:cNvPr id="258" name="Google Shape;258;p25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>
                <a:solidFill>
                  <a:srgbClr val="0F172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Image Sources</a:t>
            </a:r>
            <a:endParaRPr/>
          </a:p>
        </p:txBody>
      </p:sp>
      <p:sp>
        <p:nvSpPr>
          <p:cNvPr id="259" name="Google Shape;259;p25"/>
          <p:cNvSpPr/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473</Words>
  <Application>Microsoft Office PowerPoint</Application>
  <PresentationFormat>Panoramiczny</PresentationFormat>
  <Paragraphs>80</Paragraphs>
  <Slides>14</Slides>
  <Notes>14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14</vt:i4>
      </vt:variant>
    </vt:vector>
  </HeadingPairs>
  <TitlesOfParts>
    <vt:vector size="19" baseType="lpstr">
      <vt:lpstr>Urbanist</vt:lpstr>
      <vt:lpstr>Urbanist SemiBold</vt:lpstr>
      <vt:lpstr>Arial</vt:lpstr>
      <vt:lpstr>Calibri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Antoni Grycmann</dc:creator>
  <cp:lastModifiedBy>Antoni Grycmann (ag311499)</cp:lastModifiedBy>
  <cp:revision>4</cp:revision>
  <dcterms:modified xsi:type="dcterms:W3CDTF">2026-05-21T08:21:43Z</dcterms:modified>
</cp:coreProperties>
</file>